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12680" y="749808"/>
            <a:ext cx="1143000" cy="109728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80" y="1078992"/>
            <a:ext cx="777240" cy="109728"/>
          </a:xfrm>
          <a:prstGeom prst="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1389888"/>
            <a:ext cx="15087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2103120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97312" y="2103120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2103120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2542032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97312" y="2542032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36224" y="2542032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0" y="2980944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97312" y="2980944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36224" y="2980944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3419856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97312" y="3419856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36224" y="3419856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3858768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97312" y="3858768"/>
            <a:ext cx="118872" cy="118872"/>
          </a:xfrm>
          <a:prstGeom prst="ellipse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36224" y="3858768"/>
            <a:ext cx="118872" cy="118872"/>
          </a:xfrm>
          <a:prstGeom prst="ellipse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836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8237"/>
                </a:solidFill>
                <a:latin typeface="Aptos"/>
              </a:defRPr>
            </a:pPr>
            <a:r>
              <a:t>MINI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768096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142E44"/>
                </a:solidFill>
                <a:latin typeface="Aptos Display"/>
              </a:defRPr>
            </a:pPr>
            <a:r>
              <a:t>Pengambilan dan</a:t>
            </a:r>
            <a:br/>
            <a:r>
              <a:t>Pembersihan Data</a:t>
            </a:r>
            <a:br/>
            <a:r>
              <a:t>Melalui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474720"/>
            <a:ext cx="71323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 i="0">
                <a:solidFill>
                  <a:srgbClr val="23282C"/>
                </a:solidFill>
                <a:latin typeface="Aptos"/>
              </a:defRPr>
            </a:pPr>
            <a:r>
              <a:t>Eksplorasi data lokasi menggunakan Geoapify Places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24528"/>
            <a:ext cx="2148840" cy="41148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50799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23282C"/>
                </a:solidFill>
                <a:latin typeface="Aptos"/>
              </a:defRPr>
            </a:pPr>
            <a:r>
              <a:t>Fajrin Efantri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4632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76E74"/>
                </a:solidFill>
                <a:latin typeface="Aptos"/>
              </a:defRPr>
            </a:pPr>
            <a:r>
              <a:t>Pelatihan  •  AI Automation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21808"/>
            <a:ext cx="7223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76E74"/>
                </a:solidFill>
                <a:latin typeface="Aptos"/>
              </a:defRPr>
            </a:pPr>
            <a:r>
              <a:t>Fokus project: request API, OOP/class, data cleaning, dan penyimpanan 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08237"/>
                </a:solidFill>
                <a:latin typeface="Aptos"/>
              </a:defRPr>
            </a:pPr>
            <a:r>
              <a:t>GAMBARAN SINGKAT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142E44"/>
                </a:solidFill>
                <a:latin typeface="Aptos Display"/>
              </a:defRPr>
            </a:pPr>
            <a:r>
              <a:t>Alur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719072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993392"/>
            <a:ext cx="438912" cy="438912"/>
          </a:xfrm>
          <a:prstGeom prst="round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75688"/>
            <a:ext cx="4389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96896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99232"/>
            <a:ext cx="1389888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76E74"/>
                </a:solidFill>
                <a:latin typeface="Aptos"/>
              </a:defRPr>
            </a:pPr>
            <a:r>
              <a:t>Memuat kredensial Geoapify dari .env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734056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000" b="1" i="0">
                <a:solidFill>
                  <a:srgbClr val="3A69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28800"/>
            <a:ext cx="1719072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8104" y="1993392"/>
            <a:ext cx="438912" cy="438912"/>
          </a:xfrm>
          <a:prstGeom prst="round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2075688"/>
            <a:ext cx="4389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2596896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Panggil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999232"/>
            <a:ext cx="1389888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76E74"/>
                </a:solidFill>
                <a:latin typeface="Aptos"/>
              </a:defRPr>
            </a:pPr>
            <a:r>
              <a:t>Request ke endpoint Places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34056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000" b="1" i="0">
                <a:solidFill>
                  <a:srgbClr val="3A69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5232" y="1828800"/>
            <a:ext cx="1719072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31536" y="1993392"/>
            <a:ext cx="438912" cy="438912"/>
          </a:xfrm>
          <a:prstGeom prst="round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075688"/>
            <a:ext cx="4389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596896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Bangun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999232"/>
            <a:ext cx="1389888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76E74"/>
                </a:solidFill>
                <a:latin typeface="Aptos"/>
              </a:defRPr>
            </a:pPr>
            <a:r>
              <a:t>Class KlienTempat membungkus proses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734056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000" b="1" i="0">
                <a:solidFill>
                  <a:srgbClr val="3A69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98664" y="1828800"/>
            <a:ext cx="1719072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44968" y="1993392"/>
            <a:ext cx="438912" cy="438912"/>
          </a:xfrm>
          <a:prstGeom prst="round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8" y="2075688"/>
            <a:ext cx="4389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2596896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999232"/>
            <a:ext cx="1389888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76E74"/>
                </a:solidFill>
                <a:latin typeface="Aptos"/>
              </a:defRPr>
            </a:pPr>
            <a:r>
              <a:t>Periksa missing value, duplikat, dan tipe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734056"/>
            <a:ext cx="3474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000" b="1" i="0">
                <a:solidFill>
                  <a:srgbClr val="3A69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12096" y="1828800"/>
            <a:ext cx="1719072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0" y="1993392"/>
            <a:ext cx="438912" cy="438912"/>
          </a:xfrm>
          <a:prstGeom prst="round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075688"/>
            <a:ext cx="4389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596896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Simpan Hasil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999232"/>
            <a:ext cx="1389888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76E74"/>
                </a:solidFill>
                <a:latin typeface="Aptos"/>
              </a:defRPr>
            </a:pPr>
            <a:r>
              <a:t>Ekspor dataset akhir ke CSV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709160"/>
            <a:ext cx="1095451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709160"/>
            <a:ext cx="73152" cy="841248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873752"/>
            <a:ext cx="1063447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Output utama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257800"/>
            <a:ext cx="10634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676E74"/>
                </a:solidFill>
                <a:latin typeface="Aptos"/>
              </a:defRPr>
            </a:pPr>
            <a:r>
              <a:t>Dataset lokasi bersih dengan 114 baris dan 5 kolom siap dipakai untuk tahap berikutnya.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76E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373368"/>
            <a:ext cx="594360" cy="32004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08237"/>
                </a:solidFill>
                <a:latin typeface="Aptos"/>
              </a:defRPr>
            </a:pPr>
            <a:r>
              <a:t>API YANG DIGUNAKAN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142E44"/>
                </a:solidFill>
                <a:latin typeface="Aptos Display"/>
              </a:defRPr>
            </a:pPr>
            <a:r>
              <a:t>Geoapify Places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676E74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6583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142E44"/>
                </a:solidFill>
                <a:latin typeface="Aptos"/>
              </a:defRPr>
            </a:pPr>
            <a:r>
              <a:t>https://api.geoapify.com/v2/places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42032"/>
            <a:ext cx="1325880" cy="329184"/>
          </a:xfrm>
          <a:prstGeom prst="round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83179"/>
            <a:ext cx="12344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catering.cafe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1" y="2542032"/>
            <a:ext cx="1737360" cy="329184"/>
          </a:xfrm>
          <a:prstGeom prst="round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1" y="2583179"/>
            <a:ext cx="16459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catering.restaurant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542032"/>
            <a:ext cx="1920240" cy="329184"/>
          </a:xfrm>
          <a:prstGeom prst="round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583179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commercial.supermarket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618488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142E44"/>
                </a:solidFill>
                <a:latin typeface="Aptos"/>
              </a:defRPr>
            </a:pPr>
            <a:r>
              <a:t>Parameter pencarian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965960"/>
            <a:ext cx="4069080" cy="640080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103120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E08237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057400"/>
            <a:ext cx="25968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0" i="0">
                <a:solidFill>
                  <a:srgbClr val="23282C"/>
                </a:solidFill>
                <a:latin typeface="Aptos"/>
              </a:defRPr>
            </a:pPr>
            <a:r>
              <a:t>Jenis lokasi yang dicari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715768"/>
            <a:ext cx="4069080" cy="640080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2852927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E08237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807208"/>
            <a:ext cx="25968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0" i="0">
                <a:solidFill>
                  <a:srgbClr val="23282C"/>
                </a:solidFill>
                <a:latin typeface="Aptos"/>
              </a:defRPr>
            </a:pPr>
            <a:r>
              <a:t>Area pencarian; notebook memakai radius 3 km dari titik Monas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465575"/>
            <a:ext cx="4069080" cy="640080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3602735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E08237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3557015"/>
            <a:ext cx="25968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0" i="0">
                <a:solidFill>
                  <a:srgbClr val="23282C"/>
                </a:solidFill>
                <a:latin typeface="Aptos"/>
              </a:defRPr>
            </a:pPr>
            <a:r>
              <a:t>Jumlah hasil per request; 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215383"/>
            <a:ext cx="4069080" cy="640080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4352544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E08237"/>
                </a:solidFill>
                <a:latin typeface="Aptos"/>
              </a:defRPr>
            </a:pPr>
            <a:r>
              <a:t>apiKey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306823"/>
            <a:ext cx="25968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0" i="0">
                <a:solidFill>
                  <a:srgbClr val="23282C"/>
                </a:solidFill>
                <a:latin typeface="Aptos"/>
              </a:defRPr>
            </a:pPr>
            <a:r>
              <a:t>Kunci autentikasi dari .env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40480"/>
            <a:ext cx="6172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840480"/>
            <a:ext cx="73152" cy="1417320"/>
          </a:xfrm>
          <a:prstGeom prst="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005072"/>
            <a:ext cx="58521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Hasil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389120"/>
            <a:ext cx="5852160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676E74"/>
                </a:solidFill>
                <a:latin typeface="Aptos"/>
              </a:defRPr>
            </a:pPr>
            <a:r>
              <a:t>Data Geoapify dikembalikan dalam format GeoJSON. Daftar lokasi diambil dari key `features`, kemudian properti penting diekstrak menjadi tabel.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84048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3840480"/>
            <a:ext cx="73152" cy="1417320"/>
          </a:xfrm>
          <a:prstGeom prst="rect">
            <a:avLst/>
          </a:prstGeom>
          <a:solidFill>
            <a:srgbClr val="458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4005072"/>
            <a:ext cx="40690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Preview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8" y="4389120"/>
            <a:ext cx="4069080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676E74"/>
                </a:solidFill>
                <a:latin typeface="Aptos"/>
              </a:defRPr>
            </a:pPr>
            <a:r>
              <a:t>Nama • alamat lengkap • kategori detail • latitude • longitude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76E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373368"/>
            <a:ext cx="594360" cy="32004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08237"/>
                </a:solidFill>
                <a:latin typeface="Aptos"/>
              </a:defRPr>
            </a:pPr>
            <a:r>
              <a:t>PENERAPAN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142E44"/>
                </a:solidFill>
                <a:latin typeface="Aptos Display"/>
              </a:defRPr>
            </a:pPr>
            <a:r>
              <a:t>Class `KlienTempat`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08237"/>
                </a:solidFill>
                <a:latin typeface="Aptos"/>
              </a:defRPr>
            </a:pPr>
            <a:r>
              <a:t>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49834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23282C"/>
                </a:solidFill>
                <a:latin typeface="Aptos"/>
              </a:defRPr>
            </a:pPr>
            <a:r>
              <a:t>Membungkus proses akses Geoapify agar request dapat dipakai ulang dengan kategori, area, dan jumlah data yang berbeda.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16352"/>
            <a:ext cx="5349240" cy="2697480"/>
          </a:xfrm>
          <a:prstGeom prst="roundRect">
            <a:avLst/>
          </a:prstGeom>
          <a:solidFill>
            <a:srgbClr val="1D2227"/>
          </a:solidFill>
          <a:ln>
            <a:solidFill>
              <a:srgbClr val="343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80944"/>
            <a:ext cx="4946903" cy="2368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class KlienTempat: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def __init__(self, api_key):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self.api_key = api_key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self.alamat_api = "https://api.geoapify.com/v2/places"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def ambil_data(self, kategori, area_filter, jumlah=50):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parameter = {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    "categories": kategori,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    "filter": area_filter,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    "limit": jumlah,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    "apiKey": self.api_key</a:t>
            </a:r>
          </a:p>
          <a:p>
            <a:pPr>
              <a:spcAft>
                <a:spcPts val="200"/>
              </a:spcAft>
              <a:defRPr sz="1040">
                <a:solidFill>
                  <a:srgbClr val="DADEE0"/>
                </a:solidFill>
                <a:latin typeface="Consolas"/>
              </a:defRPr>
            </a:pPr>
            <a:r>
              <a:t>        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536192"/>
          <a:ext cx="5074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20440"/>
              </a:tblGrid>
              <a:tr h="6492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Atribut</a:t>
                      </a:r>
                    </a:p>
                  </a:txBody>
                  <a:tcPr marL="73152" marR="73152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Peran</a:t>
                      </a:r>
                    </a:p>
                  </a:txBody>
                  <a:tcPr marL="73152" marR="73152" anchor="ctr">
                    <a:solidFill>
                      <a:srgbClr val="142E44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self.api_key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Menyimpan API Key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self.alamat_api</a:t>
                      </a:r>
                    </a:p>
                  </a:txBody>
                  <a:tcPr marL="73152" marR="7315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Menyimpan endpoint</a:t>
                      </a:r>
                    </a:p>
                  </a:txBody>
                  <a:tcPr marL="73152" marR="73152" anchor="ctr">
                    <a:solidFill>
                      <a:srgbClr val="F8F6F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__init__()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Inisialisasi class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ambil_data()</a:t>
                      </a:r>
                    </a:p>
                  </a:txBody>
                  <a:tcPr marL="73152" marR="7315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Request + ekstraksi data menjadi DataFrame</a:t>
                      </a:r>
                    </a:p>
                  </a:txBody>
                  <a:tcPr marL="73152" marR="73152" anchor="ctr"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55080" y="5010912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5010912"/>
            <a:ext cx="73152" cy="1024128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5175504"/>
            <a:ext cx="47548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142E44"/>
                </a:solidFill>
                <a:latin typeface="Aptos"/>
              </a:defRPr>
            </a:pPr>
            <a:r>
              <a:t>Hasil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5559552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676E74"/>
                </a:solidFill>
                <a:latin typeface="Aptos"/>
              </a:defRPr>
            </a:pPr>
            <a:r>
              <a:t>Kategori dipanggil satu per satu, lalu seluruh tabel digabung dengan `pd.concat()` menjadi `df_tempat`.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76E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73368"/>
            <a:ext cx="594360" cy="32004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082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142E44"/>
                </a:solidFill>
                <a:latin typeface="Aptos Display"/>
              </a:defRPr>
            </a:pPr>
            <a:r>
              <a:t>Dataset Hasil 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8288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 i="0">
                <a:solidFill>
                  <a:srgbClr val="142E44"/>
                </a:solidFill>
                <a:latin typeface="Aptos Display"/>
              </a:defRPr>
            </a:pPr>
            <a: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31136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676E74"/>
                </a:solidFill>
                <a:latin typeface="Aptos"/>
              </a:defRPr>
            </a:pPr>
            <a:r>
              <a:t>baris setelah cleaning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572768"/>
            <a:ext cx="2487168" cy="950976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1719072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 i="0">
                <a:solidFill>
                  <a:srgbClr val="3A6984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1709928"/>
            <a:ext cx="138988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23282C"/>
                </a:solidFill>
                <a:latin typeface="Aptos"/>
              </a:defRPr>
            </a:pPr>
            <a:r>
              <a:t>kolom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58968" y="1572768"/>
            <a:ext cx="2487168" cy="950976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5272" y="1719072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 i="0">
                <a:solidFill>
                  <a:srgbClr val="45825E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709928"/>
            <a:ext cx="138988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23282C"/>
                </a:solidFill>
                <a:latin typeface="Aptos"/>
              </a:defRPr>
            </a:pPr>
            <a:r>
              <a:t>duplikat alamat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572768"/>
            <a:ext cx="2487168" cy="950976"/>
          </a:xfrm>
          <a:prstGeom prst="roundRect">
            <a:avLst/>
          </a:prstGeom>
          <a:solidFill>
            <a:srgbClr val="F8F6F1"/>
          </a:solidFill>
          <a:ln>
            <a:solidFill>
              <a:srgbClr val="E5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 i="0">
                <a:solidFill>
                  <a:srgbClr val="E08237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1709928"/>
            <a:ext cx="138988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1" i="0">
                <a:solidFill>
                  <a:srgbClr val="23282C"/>
                </a:solidFill>
                <a:latin typeface="Aptos"/>
              </a:defRPr>
            </a:pPr>
            <a:r>
              <a:t>Nama kosong ditangani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0779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142E44"/>
                </a:solidFill>
                <a:latin typeface="Aptos"/>
              </a:defRPr>
            </a:pPr>
            <a:r>
              <a:t>Kolom 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10128"/>
            <a:ext cx="1234440" cy="475488"/>
          </a:xfrm>
          <a:prstGeom prst="round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438144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Nama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02536" y="3310128"/>
            <a:ext cx="2011680" cy="475488"/>
          </a:xfrm>
          <a:prstGeom prst="round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48256" y="3438144"/>
            <a:ext cx="1920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Alamat Lengkap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23944" y="3310128"/>
            <a:ext cx="1965960" cy="475488"/>
          </a:xfrm>
          <a:prstGeom prst="round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4" y="3438144"/>
            <a:ext cx="187451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Kategori Detail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310128"/>
            <a:ext cx="1325880" cy="475488"/>
          </a:xfrm>
          <a:prstGeom prst="round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3438144"/>
            <a:ext cx="12344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Latitude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310128"/>
            <a:ext cx="1371600" cy="475488"/>
          </a:xfrm>
          <a:prstGeom prst="round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3438144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Longitude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8368" y="4069080"/>
          <a:ext cx="10286999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63240"/>
                <a:gridCol w="2331720"/>
                <a:gridCol w="1508760"/>
                <a:gridCol w="1508760"/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Nama</a:t>
                      </a:r>
                    </a:p>
                  </a:txBody>
                  <a:tcPr marL="45720" marR="4572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Alamat Lengkap</a:t>
                      </a:r>
                    </a:p>
                  </a:txBody>
                  <a:tcPr marL="45720" marR="4572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Kategori Detail</a:t>
                      </a:r>
                    </a:p>
                  </a:txBody>
                  <a:tcPr marL="45720" marR="4572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Latitude</a:t>
                      </a:r>
                    </a:p>
                  </a:txBody>
                  <a:tcPr marL="45720" marR="4572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Longitude</a:t>
                      </a:r>
                    </a:p>
                  </a:txBody>
                  <a:tcPr marL="45720" marR="45720" anchor="ctr">
                    <a:solidFill>
                      <a:srgbClr val="142E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The Gade Coffee and Gold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The Gade Coffee and Gold, Jl. Haji Agus Salim...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catering, catering.cafe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-6.182840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106.824736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Jakarta Coffee House</a:t>
                      </a:r>
                    </a:p>
                  </a:txBody>
                  <a:tcPr marL="45720" marR="45720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Jakarta Coffee House, Jl. KH Wahid Hasyim...</a:t>
                      </a:r>
                    </a:p>
                  </a:txBody>
                  <a:tcPr marL="45720" marR="45720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catering, catering.cafe</a:t>
                      </a:r>
                    </a:p>
                  </a:txBody>
                  <a:tcPr marL="45720" marR="45720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-6.187372</a:t>
                      </a:r>
                    </a:p>
                  </a:txBody>
                  <a:tcPr marL="45720" marR="45720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106.828101</a:t>
                      </a:r>
                    </a:p>
                  </a:txBody>
                  <a:tcPr marL="45720" marR="45720" anchor="ctr">
                    <a:solidFill>
                      <a:srgbClr val="F8F6F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Filosofi Kopi Pos Bloc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Filosofi Kopi Pos Bloc, Jl. Pos, Sawah Besar...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catering, catering.cafe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-6.166904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106.833501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58368" y="589788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676E74"/>
                </a:solidFill>
                <a:latin typeface="Aptos"/>
              </a:defRPr>
            </a:pPr>
            <a:r>
              <a:t>Dataset disimpan sebagai `dataset_tempat_geoapify.csv`.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76E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373368"/>
            <a:ext cx="594360" cy="32004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E08237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142E44"/>
                </a:solidFill>
                <a:latin typeface="Aptos Display"/>
              </a:defRPr>
            </a:pPr>
            <a:r>
              <a:t>Keputusan Pembersihan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91056"/>
          <a:ext cx="11018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08760"/>
                <a:gridCol w="2788920"/>
                <a:gridCol w="4800600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Temuan</a:t>
                      </a:r>
                    </a:p>
                  </a:txBody>
                  <a:tcPr marL="64008" marR="64008" marT="27432" marB="27432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 pemeriksaan</a:t>
                      </a:r>
                    </a:p>
                  </a:txBody>
                  <a:tcPr marL="64008" marR="64008" marT="27432" marB="27432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Keputusan</a:t>
                      </a:r>
                    </a:p>
                  </a:txBody>
                  <a:tcPr marL="64008" marR="64008" marT="27432" marB="27432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Alasan</a:t>
                      </a:r>
                    </a:p>
                  </a:txBody>
                  <a:tcPr marL="64008" marR="64008" marT="27432" marB="27432" anchor="ctr">
                    <a:solidFill>
                      <a:srgbClr val="142E44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Nama kosong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1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Diisi "Nama Tidak Diketahui"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Supaya kolom nama tidak menyisakan missing value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Baris kembar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Dipertahankan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Tidak ada Alamat Lengkap yang sama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Tipe data teks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str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Dipertahankan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Sesuai untuk nama, alamat, dan kategori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Latitude / Longitude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float64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Dipertahankan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3282C"/>
                          </a:solidFill>
                          <a:latin typeface="Aptos"/>
                        </a:defRPr>
                      </a:pPr>
                      <a:r>
                        <a:t>Sudah berupa angka untuk koordinat</a:t>
                      </a:r>
                    </a:p>
                  </a:txBody>
                  <a:tcPr marL="64008" marR="64008" marT="27432" marB="27432" anchor="ctr"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676E74"/>
                </a:solidFill>
                <a:latin typeface="Aptos"/>
              </a:defRPr>
            </a:pPr>
            <a:r>
              <a:t>Catatan penting: tipe data koordinat sudah sesuai, jadi proses cleaning bersifat memastikan/menjaga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76E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73368"/>
            <a:ext cx="594360" cy="32004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640080"/>
            <a:ext cx="2331720" cy="91440"/>
          </a:xfrm>
          <a:prstGeom prst="rect">
            <a:avLst/>
          </a:prstGeom>
          <a:solidFill>
            <a:srgbClr val="E0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987552"/>
            <a:ext cx="1645920" cy="91440"/>
          </a:xfrm>
          <a:prstGeom prst="rect">
            <a:avLst/>
          </a:prstGeom>
          <a:solidFill>
            <a:srgbClr val="3A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E08237"/>
                </a:solidFill>
                <a:latin typeface="Aptos"/>
              </a:defRPr>
            </a:pPr>
            <a:r>
              <a:t>Ringkasan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353312"/>
            <a:ext cx="71323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t>Project selesai</a:t>
            </a:r>
            <a:br/>
            <a:r>
              <a:t>sampai tahap dataset siap pakai.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82112"/>
            <a:ext cx="704088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C"/>
                </a:solidFill>
                <a:latin typeface="Aptos"/>
              </a:defRPr>
            </a:pPr>
            <a:r>
              <a:t>• Geoapify Places API digunakan untuk mengambil lokasi berdasarkan kategori dan area.</a:t>
            </a:r>
          </a:p>
          <a:p>
            <a:pPr>
              <a:spcAft>
                <a:spcPts val="700"/>
              </a:spcAft>
              <a:defRPr sz="1500">
                <a:solidFill>
                  <a:srgbClr val="23282C"/>
                </a:solidFill>
                <a:latin typeface="Aptos"/>
              </a:defRPr>
            </a:pPr>
            <a:r>
              <a:t>• Class `KlienTempat` membuat proses request lebih terstruktur dan reusable.</a:t>
            </a:r>
          </a:p>
          <a:p>
            <a:pPr>
              <a:spcAft>
                <a:spcPts val="700"/>
              </a:spcAft>
              <a:defRPr sz="1500">
                <a:solidFill>
                  <a:srgbClr val="23282C"/>
                </a:solidFill>
                <a:latin typeface="Aptos"/>
              </a:defRPr>
            </a:pPr>
            <a:r>
              <a:t>• Data diperiksa untuk missing value, duplikat, dan tipe data.</a:t>
            </a:r>
          </a:p>
          <a:p>
            <a:pPr>
              <a:spcAft>
                <a:spcPts val="700"/>
              </a:spcAft>
              <a:defRPr sz="1500">
                <a:solidFill>
                  <a:srgbClr val="23282C"/>
                </a:solidFill>
                <a:latin typeface="Aptos"/>
              </a:defRPr>
            </a:pPr>
            <a:r>
              <a:t>• Dataset akhir berisi 114 baris dan 5 kolom, lalu disimpan dalam 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828800"/>
            <a:ext cx="2697480" cy="2697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2212848"/>
            <a:ext cx="20574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3800" b="1" i="0">
                <a:solidFill>
                  <a:srgbClr val="142E44"/>
                </a:solidFill>
                <a:latin typeface="Aptos Display"/>
              </a:defRPr>
            </a:pPr>
            <a: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2" y="2926080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E08237"/>
                </a:solidFill>
                <a:latin typeface="Aptos"/>
              </a:defRPr>
            </a:pPr>
            <a:r>
              <a:t>DATA LOKASI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429000"/>
            <a:ext cx="2148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50" b="1" i="0">
                <a:solidFill>
                  <a:srgbClr val="676E74"/>
                </a:solidFill>
                <a:latin typeface="Aptos"/>
              </a:defRPr>
            </a:pPr>
            <a:r>
              <a:t>5 kolom • 0 duplikat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2531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